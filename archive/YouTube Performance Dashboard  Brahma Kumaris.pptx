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Heebo"/>
      <p:regular r:id="rId17"/>
      <p:bold r:id="rId18"/>
    </p:embeddedFont>
    <p:embeddedFont>
      <p:font typeface="Libre Baskervill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Baskerville-bold.fntdata"/><Relationship Id="rId11" Type="http://schemas.openxmlformats.org/officeDocument/2006/relationships/slide" Target="slides/slide4.xml"/><Relationship Id="rId22" Type="http://schemas.openxmlformats.org/officeDocument/2006/relationships/font" Target="fonts/LibreBaskerville-boldItalic.fntdata"/><Relationship Id="rId10" Type="http://schemas.openxmlformats.org/officeDocument/2006/relationships/slide" Target="slides/slide3.xml"/><Relationship Id="rId21" Type="http://schemas.openxmlformats.org/officeDocument/2006/relationships/font" Target="fonts/LibreBaskerville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Heebo-regular.fnt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LibreBaskerville-regular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Heeb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15e28c8e1_2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b15e28c8e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15e28c8e1_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b15e28c8e1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15e28c8e1_2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b15e28c8e1_2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b15e28c8e1_2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15e28c8e1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b15e28c8e1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b15e28c8e1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15e28c8e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b15e28c8e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15e28c8e1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b15e28c8e1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b15e28c8e1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15e28c8e1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b15e28c8e1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b15e28c8e1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15e28c8e1_2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b15e28c8e1_2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15e28c8e1_2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b15e28c8e1_2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457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10" name="Google Shape;110;p27"/>
          <p:cNvSpPr txBox="1"/>
          <p:nvPr>
            <p:ph idx="2" type="body"/>
          </p:nvPr>
        </p:nvSpPr>
        <p:spPr>
          <a:xfrm>
            <a:off x="4648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11" name="Google Shape;111;p2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type="ctrTitle"/>
          </p:nvPr>
        </p:nvSpPr>
        <p:spPr>
          <a:xfrm>
            <a:off x="685800" y="159782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7" name="Google Shape;117;p2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3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3" name="Google Shape;133;p31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34" name="Google Shape;134;p31"/>
          <p:cNvSpPr txBox="1"/>
          <p:nvPr>
            <p:ph idx="3" type="body"/>
          </p:nvPr>
        </p:nvSpPr>
        <p:spPr>
          <a:xfrm>
            <a:off x="4645026" y="1151335"/>
            <a:ext cx="4041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5" name="Google Shape;135;p31"/>
          <p:cNvSpPr txBox="1"/>
          <p:nvPr>
            <p:ph idx="4" type="body"/>
          </p:nvPr>
        </p:nvSpPr>
        <p:spPr>
          <a:xfrm>
            <a:off x="4645026" y="1631156"/>
            <a:ext cx="40416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36" name="Google Shape;136;p3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type="title"/>
          </p:nvPr>
        </p:nvSpPr>
        <p:spPr>
          <a:xfrm>
            <a:off x="457201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47" name="Google Shape;147;p33"/>
          <p:cNvSpPr txBox="1"/>
          <p:nvPr>
            <p:ph idx="2" type="body"/>
          </p:nvPr>
        </p:nvSpPr>
        <p:spPr>
          <a:xfrm>
            <a:off x="457201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48" name="Google Shape;148;p3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3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3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34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55" name="Google Shape;155;p3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3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5"/>
          <p:cNvSpPr txBox="1"/>
          <p:nvPr>
            <p:ph idx="1" type="body"/>
          </p:nvPr>
        </p:nvSpPr>
        <p:spPr>
          <a:xfrm rot="5400000">
            <a:off x="2874750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3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36"/>
          <p:cNvSpPr txBox="1"/>
          <p:nvPr>
            <p:ph idx="1" type="body"/>
          </p:nvPr>
        </p:nvSpPr>
        <p:spPr>
          <a:xfrm rot="5400000">
            <a:off x="1272750" y="-609571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7" name="Google Shape;167;p3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3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file/d/1VHyseULvmQXZ-WkIKD1Lh_VgHttSfNMX/view?usp=sharing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drive.google.com/file/d/1ZxbOrJDVDChYo2BXIYOxdurGz03Zd5F5/view?usp=sharing" TargetMode="External"/><Relationship Id="rId7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/>
          <p:nvPr/>
        </p:nvSpPr>
        <p:spPr>
          <a:xfrm>
            <a:off x="54600" y="2645725"/>
            <a:ext cx="8910300" cy="13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200"/>
              <a:buFont typeface="Libre Baskerville"/>
              <a:buNone/>
            </a:pPr>
            <a:r>
              <a:rPr lang="en" sz="28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YouTube Performance Dashboard </a:t>
            </a:r>
            <a:br>
              <a:rPr lang="en" sz="28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" sz="28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Brahma Kumaris</a:t>
            </a:r>
            <a:br>
              <a:rPr lang="en" sz="2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br>
              <a:rPr lang="en" sz="2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" sz="23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Social Media Analytics | Power BI Case Study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5" name="Google Shape;17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4245" y="382626"/>
            <a:ext cx="2975500" cy="182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81" name="Google Shape;181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82" name="Google Shape;18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226"/>
            <a:ext cx="9144000" cy="508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9"/>
          <p:cNvSpPr txBox="1"/>
          <p:nvPr/>
        </p:nvSpPr>
        <p:spPr>
          <a:xfrm>
            <a:off x="116225" y="996925"/>
            <a:ext cx="9027900" cy="3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Overview</a:t>
            </a:r>
            <a:r>
              <a:rPr b="1" lang="en" sz="18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:- </a:t>
            </a:r>
            <a:br>
              <a:rPr b="1" lang="en" sz="1700">
                <a:solidFill>
                  <a:schemeClr val="dk1"/>
                </a:solidFill>
              </a:rPr>
            </a:br>
            <a:br>
              <a:rPr b="1" lang="en" sz="1700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This dashboard provides an overall view of the Brahma Kumaris YouTube channel performance.It tracks content volume, views, engagement, growth trends, and video type performance.</a:t>
            </a:r>
            <a:br>
              <a:rPr lang="en" sz="1700">
                <a:solidFill>
                  <a:schemeClr val="dk1"/>
                </a:solidFill>
              </a:rPr>
            </a:br>
            <a:br>
              <a:rPr lang="en" sz="1700">
                <a:solidFill>
                  <a:schemeClr val="dk1"/>
                </a:solidFill>
              </a:rPr>
            </a:br>
            <a:r>
              <a:rPr b="1" lang="en" sz="1600">
                <a:solidFill>
                  <a:schemeClr val="dk1"/>
                </a:solidFill>
              </a:rPr>
              <a:t>KPI Cards (Top Summary)</a:t>
            </a:r>
            <a:br>
              <a:rPr b="1" lang="en" sz="1600">
                <a:solidFill>
                  <a:schemeClr val="dk1"/>
                </a:solidFill>
              </a:rPr>
            </a:br>
            <a:br>
              <a:rPr b="1" lang="en" sz="1600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Total Videos (1.7K):</a:t>
            </a:r>
            <a:r>
              <a:rPr lang="en">
                <a:solidFill>
                  <a:schemeClr val="dk1"/>
                </a:solidFill>
              </a:rPr>
              <a:t> The channel has a large and consistent content library.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Total Views (24.9M):</a:t>
            </a:r>
            <a:r>
              <a:rPr lang="en">
                <a:solidFill>
                  <a:schemeClr val="dk1"/>
                </a:solidFill>
              </a:rPr>
              <a:t> Strong overall reach and audience consumption.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Avg Views per Video (15K):</a:t>
            </a:r>
            <a:r>
              <a:rPr lang="en">
                <a:solidFill>
                  <a:schemeClr val="dk1"/>
                </a:solidFill>
              </a:rPr>
              <a:t> Indicates stable average performance per upload.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Engagement Rate (3.38%):</a:t>
            </a:r>
            <a:r>
              <a:rPr lang="en">
                <a:solidFill>
                  <a:schemeClr val="dk1"/>
                </a:solidFill>
              </a:rPr>
              <a:t> Healthy engagement for long-form spiritual content.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Total Engagement (841K):</a:t>
            </a:r>
            <a:r>
              <a:rPr lang="en">
                <a:solidFill>
                  <a:schemeClr val="dk1"/>
                </a:solidFill>
              </a:rPr>
              <a:t> Audience actively likes and comments on content.</a:t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189" name="Google Shape;189;p39"/>
          <p:cNvCxnSpPr/>
          <p:nvPr/>
        </p:nvCxnSpPr>
        <p:spPr>
          <a:xfrm>
            <a:off x="0" y="806913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5000">
              <a:srgbClr val="000000">
                <a:alpha val="35686"/>
              </a:srgbClr>
            </a:outerShdw>
          </a:effectLst>
        </p:spPr>
      </p:cxnSp>
      <p:pic>
        <p:nvPicPr>
          <p:cNvPr id="190" name="Google Shape;19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34" y="50651"/>
            <a:ext cx="978031" cy="62598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9"/>
          <p:cNvSpPr txBox="1"/>
          <p:nvPr/>
        </p:nvSpPr>
        <p:spPr>
          <a:xfrm>
            <a:off x="2132375" y="146250"/>
            <a:ext cx="52239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3550"/>
              <a:buFont typeface="Libre Baskerville"/>
              <a:buNone/>
            </a:pPr>
            <a:r>
              <a:rPr lang="en" sz="20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Insights from Dashboard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0"/>
          <p:cNvSpPr txBox="1"/>
          <p:nvPr/>
        </p:nvSpPr>
        <p:spPr>
          <a:xfrm>
            <a:off x="58050" y="836200"/>
            <a:ext cx="9027900" cy="40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Growth Trend: Views vs Upload Frequency:</a:t>
            </a:r>
            <a:br>
              <a:rPr b="1" lang="en" sz="12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Upload frequency does not always guarantee higher views.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Certain months show </a:t>
            </a:r>
            <a:r>
              <a:rPr b="1" lang="en" sz="1300">
                <a:solidFill>
                  <a:schemeClr val="dk1"/>
                </a:solidFill>
              </a:rPr>
              <a:t>high views with fewer uploads</a:t>
            </a:r>
            <a:r>
              <a:rPr lang="en" sz="1300">
                <a:solidFill>
                  <a:schemeClr val="dk1"/>
                </a:solidFill>
              </a:rPr>
              <a:t>, indicating </a:t>
            </a:r>
            <a:r>
              <a:rPr b="1" lang="en" sz="1300">
                <a:solidFill>
                  <a:schemeClr val="dk1"/>
                </a:solidFill>
              </a:rPr>
              <a:t>content quality matters more than quantity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Avg Views per Video by Podcast: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 sz="1300">
                <a:solidFill>
                  <a:schemeClr val="dk1"/>
                </a:solidFill>
              </a:rPr>
              <a:t>COP 29 &amp; Mindfulness-related podcasts</a:t>
            </a:r>
            <a:r>
              <a:rPr lang="en" sz="1300">
                <a:solidFill>
                  <a:schemeClr val="dk1"/>
                </a:solidFill>
              </a:rPr>
              <a:t> receive higher average views.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Short spiritual theme podcasts perform better than general climate content.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Total Views by Video Type: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 sz="1300">
                <a:solidFill>
                  <a:schemeClr val="dk1"/>
                </a:solidFill>
              </a:rPr>
              <a:t>Live videos generate the highest total views</a:t>
            </a:r>
            <a:r>
              <a:rPr lang="en" sz="1300">
                <a:solidFill>
                  <a:schemeClr val="dk1"/>
                </a:solidFill>
              </a:rPr>
              <a:t>, showing strong interest in live spiritual sessions.</a:t>
            </a:r>
            <a:br>
              <a:rPr lang="en" sz="1300">
                <a:solidFill>
                  <a:schemeClr val="dk1"/>
                </a:solidFill>
              </a:rPr>
            </a:br>
            <a:r>
              <a:rPr b="1" lang="en" sz="1300">
                <a:solidFill>
                  <a:schemeClr val="dk1"/>
                </a:solidFill>
              </a:rPr>
              <a:t>Shorts contribute significant views</a:t>
            </a:r>
            <a:r>
              <a:rPr lang="en" sz="1300">
                <a:solidFill>
                  <a:schemeClr val="dk1"/>
                </a:solidFill>
              </a:rPr>
              <a:t>, proving short-form content is effective.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Long videos have lower total views but provide depth and loyal engagement.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Total Videos by Video Type:</a:t>
            </a:r>
            <a:br>
              <a:rPr b="1" lang="en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Live videos form the </a:t>
            </a:r>
            <a:r>
              <a:rPr b="1" lang="en" sz="1300">
                <a:solidFill>
                  <a:schemeClr val="dk1"/>
                </a:solidFill>
              </a:rPr>
              <a:t>largest portion of uploaded content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Shorts are used frequently for reach and awareness.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Long videos are fewer but serve as core knowledge content.</a:t>
            </a:r>
            <a:endParaRPr sz="1300">
              <a:solidFill>
                <a:schemeClr val="dk1"/>
              </a:solidFill>
            </a:endParaRPr>
          </a:p>
        </p:txBody>
      </p:sp>
      <p:cxnSp>
        <p:nvCxnSpPr>
          <p:cNvPr id="198" name="Google Shape;198;p40"/>
          <p:cNvCxnSpPr/>
          <p:nvPr/>
        </p:nvCxnSpPr>
        <p:spPr>
          <a:xfrm>
            <a:off x="0" y="806913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5000">
              <a:srgbClr val="000000">
                <a:alpha val="35690"/>
              </a:srgbClr>
            </a:outerShdw>
          </a:effectLst>
        </p:spPr>
      </p:cxnSp>
      <p:pic>
        <p:nvPicPr>
          <p:cNvPr id="199" name="Google Shape;19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34" y="50651"/>
            <a:ext cx="978031" cy="62598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0"/>
          <p:cNvSpPr txBox="1"/>
          <p:nvPr/>
        </p:nvSpPr>
        <p:spPr>
          <a:xfrm>
            <a:off x="2132375" y="146250"/>
            <a:ext cx="52239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3550"/>
              <a:buFont typeface="Libre Baskerville"/>
              <a:buNone/>
            </a:pPr>
            <a:r>
              <a:rPr lang="en" sz="20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Insights from Dashboard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06" name="Google Shape;206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07" name="Google Shape;20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70"/>
            <a:ext cx="9143999" cy="5125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/>
        </p:nvSpPr>
        <p:spPr>
          <a:xfrm>
            <a:off x="58050" y="836200"/>
            <a:ext cx="90279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Views Insight: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The highest viewed video crosses </a:t>
            </a:r>
            <a:r>
              <a:rPr b="1" lang="en" sz="1200">
                <a:solidFill>
                  <a:schemeClr val="dk1"/>
                </a:solidFill>
              </a:rPr>
              <a:t>1.3M+ views</a:t>
            </a:r>
            <a:r>
              <a:rPr lang="en" sz="1200">
                <a:solidFill>
                  <a:schemeClr val="dk1"/>
                </a:solidFill>
              </a:rPr>
              <a:t>, showing strong viral potential.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Spiritual and motivational titles consistently rank in top positions.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Likes Insight: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Videos with emotional and practical life guidance receive </a:t>
            </a:r>
            <a:r>
              <a:rPr b="1" lang="en" sz="1200">
                <a:solidFill>
                  <a:schemeClr val="dk1"/>
                </a:solidFill>
              </a:rPr>
              <a:t>higher likes</a:t>
            </a:r>
            <a:r>
              <a:rPr lang="en" sz="1200">
                <a:solidFill>
                  <a:schemeClr val="dk1"/>
                </a:solidFill>
              </a:rPr>
              <a:t>, showing strong audience connection.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Like counts increase significantly for short and live formats.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Comments Insight: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Videos addressing </a:t>
            </a:r>
            <a:r>
              <a:rPr b="1" lang="en" sz="1200">
                <a:solidFill>
                  <a:schemeClr val="dk1"/>
                </a:solidFill>
              </a:rPr>
              <a:t>personal challenges and peace of mind</a:t>
            </a:r>
            <a:r>
              <a:rPr lang="en" sz="1200">
                <a:solidFill>
                  <a:schemeClr val="dk1"/>
                </a:solidFill>
              </a:rPr>
              <a:t> receive more comments.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Indicates deeper audience engagement beyond passive viewing.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Engagement Insight: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Shorts have </a:t>
            </a:r>
            <a:r>
              <a:rPr b="1" lang="en" sz="1200">
                <a:solidFill>
                  <a:schemeClr val="dk1"/>
                </a:solidFill>
              </a:rPr>
              <a:t>higher engagement per view</a:t>
            </a:r>
            <a:r>
              <a:rPr lang="en" sz="1200">
                <a:solidFill>
                  <a:schemeClr val="dk1"/>
                </a:solidFill>
              </a:rPr>
              <a:t>, even with lower duration.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Live videos maintain steady engagement over long durations.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Video Type Insight: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Live and Short videos dominate the Top 10 list.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Long videos appear less frequently but still attract loyal viewers.</a:t>
            </a:r>
            <a:endParaRPr b="1" sz="1500">
              <a:solidFill>
                <a:schemeClr val="dk1"/>
              </a:solidFill>
            </a:endParaRPr>
          </a:p>
        </p:txBody>
      </p:sp>
      <p:cxnSp>
        <p:nvCxnSpPr>
          <p:cNvPr id="214" name="Google Shape;214;p42"/>
          <p:cNvCxnSpPr/>
          <p:nvPr/>
        </p:nvCxnSpPr>
        <p:spPr>
          <a:xfrm>
            <a:off x="0" y="806913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5000">
              <a:srgbClr val="000000">
                <a:alpha val="35690"/>
              </a:srgbClr>
            </a:outerShdw>
          </a:effectLst>
        </p:spPr>
      </p:cxnSp>
      <p:pic>
        <p:nvPicPr>
          <p:cNvPr id="215" name="Google Shape;21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34" y="50651"/>
            <a:ext cx="978031" cy="62598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2"/>
          <p:cNvSpPr txBox="1"/>
          <p:nvPr/>
        </p:nvSpPr>
        <p:spPr>
          <a:xfrm>
            <a:off x="1571100" y="146250"/>
            <a:ext cx="57852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3550"/>
              <a:buFont typeface="Libre Baskerville"/>
              <a:buNone/>
            </a:pPr>
            <a:r>
              <a:rPr lang="en" sz="20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Table Dashboard Insights (Top 10 Videos)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3"/>
          <p:cNvSpPr txBox="1"/>
          <p:nvPr/>
        </p:nvSpPr>
        <p:spPr>
          <a:xfrm>
            <a:off x="58050" y="836200"/>
            <a:ext cx="90279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Views Insight: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The highest viewed video crosses </a:t>
            </a:r>
            <a:r>
              <a:rPr b="1" lang="en" sz="1200">
                <a:solidFill>
                  <a:schemeClr val="dk1"/>
                </a:solidFill>
              </a:rPr>
              <a:t>1.3M+ views</a:t>
            </a:r>
            <a:r>
              <a:rPr lang="en" sz="1200">
                <a:solidFill>
                  <a:schemeClr val="dk1"/>
                </a:solidFill>
              </a:rPr>
              <a:t>, showing strong viral potential.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Spiritual and motivational titles consistently rank in top positions.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Likes Insight: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Videos with emotional and practical life guidance receive </a:t>
            </a:r>
            <a:r>
              <a:rPr b="1" lang="en" sz="1200">
                <a:solidFill>
                  <a:schemeClr val="dk1"/>
                </a:solidFill>
              </a:rPr>
              <a:t>higher likes</a:t>
            </a:r>
            <a:r>
              <a:rPr lang="en" sz="1200">
                <a:solidFill>
                  <a:schemeClr val="dk1"/>
                </a:solidFill>
              </a:rPr>
              <a:t>, showing strong audience connection.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Like counts increase significantly for short and live formats.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Comments Insight: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Videos addressing </a:t>
            </a:r>
            <a:r>
              <a:rPr b="1" lang="en" sz="1200">
                <a:solidFill>
                  <a:schemeClr val="dk1"/>
                </a:solidFill>
              </a:rPr>
              <a:t>personal challenges and peace of mind</a:t>
            </a:r>
            <a:r>
              <a:rPr lang="en" sz="1200">
                <a:solidFill>
                  <a:schemeClr val="dk1"/>
                </a:solidFill>
              </a:rPr>
              <a:t> receive more comments.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Indicates deeper audience engagement beyond passive viewing.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Engagement Insight: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Shorts have </a:t>
            </a:r>
            <a:r>
              <a:rPr b="1" lang="en" sz="1200">
                <a:solidFill>
                  <a:schemeClr val="dk1"/>
                </a:solidFill>
              </a:rPr>
              <a:t>higher engagement per view</a:t>
            </a:r>
            <a:r>
              <a:rPr lang="en" sz="1200">
                <a:solidFill>
                  <a:schemeClr val="dk1"/>
                </a:solidFill>
              </a:rPr>
              <a:t>, even with lower duration.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Live videos maintain steady engagement over long durations.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Video Type Insight:</a:t>
            </a:r>
            <a:br>
              <a:rPr b="1" lang="en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Live and Short videos dominate the Top 10 list.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Long videos appear less frequently but still attract loyal viewers.</a:t>
            </a:r>
            <a:endParaRPr b="1" sz="1500">
              <a:solidFill>
                <a:schemeClr val="dk1"/>
              </a:solidFill>
            </a:endParaRPr>
          </a:p>
        </p:txBody>
      </p:sp>
      <p:cxnSp>
        <p:nvCxnSpPr>
          <p:cNvPr id="223" name="Google Shape;223;p43"/>
          <p:cNvCxnSpPr/>
          <p:nvPr/>
        </p:nvCxnSpPr>
        <p:spPr>
          <a:xfrm>
            <a:off x="0" y="806913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5000">
              <a:srgbClr val="000000">
                <a:alpha val="35690"/>
              </a:srgbClr>
            </a:outerShdw>
          </a:effectLst>
        </p:spPr>
      </p:cxnSp>
      <p:pic>
        <p:nvPicPr>
          <p:cNvPr id="224" name="Google Shape;22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34" y="50651"/>
            <a:ext cx="978031" cy="62598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3"/>
          <p:cNvSpPr txBox="1"/>
          <p:nvPr/>
        </p:nvSpPr>
        <p:spPr>
          <a:xfrm>
            <a:off x="1571100" y="146250"/>
            <a:ext cx="57852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3550"/>
              <a:buFont typeface="Libre Baskerville"/>
              <a:buNone/>
            </a:pPr>
            <a:r>
              <a:rPr lang="en" sz="205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Table Dashboard Insights (Top 10 Videos)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9614" y="28962"/>
            <a:ext cx="3095124" cy="19007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4"/>
          <p:cNvSpPr/>
          <p:nvPr/>
        </p:nvSpPr>
        <p:spPr>
          <a:xfrm>
            <a:off x="2982204" y="4117197"/>
            <a:ext cx="19650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40"/>
              <a:buFont typeface="Heebo"/>
              <a:buNone/>
            </a:pPr>
            <a:r>
              <a:rPr b="0" i="0" lang="en" sz="1339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Video </a:t>
            </a:r>
            <a:endParaRPr b="0" i="0" sz="13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4"/>
          <p:cNvSpPr/>
          <p:nvPr/>
        </p:nvSpPr>
        <p:spPr>
          <a:xfrm>
            <a:off x="5340300" y="4117200"/>
            <a:ext cx="1243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40"/>
              <a:buFont typeface="Heebo"/>
              <a:buNone/>
            </a:pPr>
            <a:r>
              <a:rPr b="0" i="0" lang="en" sz="1339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 Dashboard File </a:t>
            </a:r>
            <a:endParaRPr b="0" i="0" sz="13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44" title="icons8-video-50.png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21047" l="0" r="0" t="21048"/>
          <a:stretch/>
        </p:blipFill>
        <p:spPr>
          <a:xfrm>
            <a:off x="2982192" y="3501479"/>
            <a:ext cx="611710" cy="354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4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36350" y="3240363"/>
            <a:ext cx="419610" cy="61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/>
          <p:nvPr/>
        </p:nvSpPr>
        <p:spPr>
          <a:xfrm>
            <a:off x="-119362" y="2247888"/>
            <a:ext cx="91731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200"/>
              <a:buFont typeface="Libre Baskerville"/>
              <a:buNone/>
            </a:pPr>
            <a:r>
              <a:rPr lang="en" sz="28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YouTube Performance Dashboard </a:t>
            </a:r>
            <a:br>
              <a:rPr lang="en" sz="28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" sz="28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Brahma Kumaris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ound Thank You Messages that Deeply Express Gratitude" id="240" name="Google Shape;24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